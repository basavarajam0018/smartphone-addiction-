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71" r:id="rId12"/>
    <p:sldId id="265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6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54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F953A-CABA-EEE7-027E-3DB20F763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37110A-3B0E-D39E-325B-538FA95B60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6DCD3-70F0-F3BB-8EC7-0110EFF95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E1E7-C38A-49F7-A054-CCC984C13B47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DB01F-0657-8B20-E31B-B880029E2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CD631-D80A-A66F-4D51-571106281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C097-1A5B-47CD-B47D-342B4E14B0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492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6630B-5A0D-A09A-8E8F-E1592416A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7356F-D01F-EE7A-E36B-441389155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3BA28-87D7-873B-E1CE-24045F293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E1E7-C38A-49F7-A054-CCC984C13B47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1FA26-3432-D220-FE38-ADCAC0F32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374E2-DE9C-B776-A348-2B082E3D5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C097-1A5B-47CD-B47D-342B4E14B0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609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2C6A4-987C-499A-8078-11AFDD8A6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10E6F-4A64-00BC-94A0-08B1AEF3E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F8390-E179-A8C1-AB2E-EBB3586DA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E1E7-C38A-49F7-A054-CCC984C13B47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3A333-2A8E-EBAE-7503-6B541C47D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BF1FF-3C10-932E-B1C8-4A67807F5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C097-1A5B-47CD-B47D-342B4E14B0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09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A8D2B-D026-AD9B-3C2A-053BEDD9A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87825-5E9F-7C39-1316-C97BE35E3E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A87713-A483-70F7-CE65-9DC417C461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4CB95-32FB-D36D-4901-4D10BC6DE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E1E7-C38A-49F7-A054-CCC984C13B47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7A36A-FC03-54B3-CE26-9E45C560B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EB873-DD88-15F2-30FA-48BE4CAA7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C097-1A5B-47CD-B47D-342B4E14B0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674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B8DD8-5F8C-124E-33EA-7CE4FCC70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63D52-9641-A241-9072-DBED7BCF7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2F6C8B-785A-B438-3A2C-61C632635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D9681B-CAC3-D565-4317-D95CD641E8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4BEDD2-E4C7-62E2-98AD-1411203CD3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47B703-71EB-754B-D7EC-4ACE0AC1E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E1E7-C38A-49F7-A054-CCC984C13B47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8EE720-A0C5-62A9-5D8B-A5301C8AF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4030FD-6FFF-FBC9-5D07-223A51F19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C097-1A5B-47CD-B47D-342B4E14B0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737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CB996-6407-CCE7-D416-C6C89B9CD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BC45F8-9302-52F5-39C7-EB5DF5751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E1E7-C38A-49F7-A054-CCC984C13B47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DCA780-EB85-BBFC-3007-CC95A2736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632FFB-A0DD-453F-5314-D29677B5A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C097-1A5B-47CD-B47D-342B4E14B0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066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844B69-1E4B-24E4-BDCC-EF78C5189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E1E7-C38A-49F7-A054-CCC984C13B47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293CD0-24E9-6694-0F22-D8079D069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7C230-977D-1286-AA29-9033AA8A2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C097-1A5B-47CD-B47D-342B4E14B0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439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F91FE-3397-B2C5-1FBD-5E5649D37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C0283-AA6D-8065-AB44-F78E53743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25BC8-4034-32EB-8029-439B7D97C0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343971-0444-E064-7F71-C724AAD7C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E1E7-C38A-49F7-A054-CCC984C13B47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A2E00-C4F9-CA28-2C51-EFFB3EE4D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D4D53-8B2C-B644-A27C-495A208A0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C097-1A5B-47CD-B47D-342B4E14B0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728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6A9E4-5B6F-D0CF-A66D-C66D4321C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98F1FC-4E70-9541-7570-C2E9E88A21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DBB63-3F74-57B4-BA6A-3B6ABCDA0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6FD4C-4428-A6FD-2E0C-8B22664F8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E1E7-C38A-49F7-A054-CCC984C13B47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4878A-1C25-A015-4F14-B79A7A35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E5586-8849-4DF2-50A4-93B425C38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C097-1A5B-47CD-B47D-342B4E14B0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131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4911F-8855-A460-F9E7-560E4AA5F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A507B8-811E-B703-042D-D8024AD48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01864-5BD3-90D2-61B9-F3F0F976A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E1E7-C38A-49F7-A054-CCC984C13B47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67291-B2DD-4D2F-4C6D-C7209068E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38226-F836-111B-CFF9-319A18AEB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C097-1A5B-47CD-B47D-342B4E14B0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061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07B3A2-0FFE-DDE6-3FA4-FB0370A400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9A4C7-3944-8D34-2108-887433D03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8C415-1D63-37AE-D4EB-E91DDF593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E1E7-C38A-49F7-A054-CCC984C13B47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E320B-0AD9-DCEF-48BE-2226BA914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58401-EC8F-75C1-2BDB-74D6A29E1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C097-1A5B-47CD-B47D-342B4E14B0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345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09A5B0-1E40-DAFA-6931-CC2ABBE14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023B0-140A-7AC4-4B1C-B51099565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1B551-2EAF-C29B-00C6-BA935C4499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DE1E7-C38A-49F7-A054-CCC984C13B47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C32C8-3757-DC8B-01A5-B26656B88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F6E98-1436-B053-F008-A1C98EF96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7C097-1A5B-47CD-B47D-342B4E14B0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19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5BABC-D1DD-B264-8051-3CD7B2D7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06387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Hybrid Machine Learning Framework for Smartphone Addiction Detection</a:t>
            </a:r>
            <a:endParaRPr lang="en-IN" sz="3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B3F0F-620D-6767-3399-B34AA7930A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428999"/>
            <a:ext cx="5181600" cy="2747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By,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C87899-45C7-D5AC-A1A8-F5BD94781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519947"/>
            <a:ext cx="5181600" cy="265701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by,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26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6B01D-F4BD-DE15-C772-938FE88FC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762"/>
            <a:ext cx="10515600" cy="54927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E77EA-39D1-F522-E025-06324B9F2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6077"/>
            <a:ext cx="10515600" cy="5360886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6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Smartphone addiction has become a widespread issue, impacting mental health, productivity, and social interactions. Machine learning techniques offer a data-driven approach to identifying individuals at risk based on behavioral and psychological patterns.</a:t>
            </a:r>
          </a:p>
          <a:p>
            <a:pPr algn="just">
              <a:lnSpc>
                <a:spcPct val="16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Traditional assessment methods rely on self-reported surveys, often lacking accuracy and real-time evaluation. The challenge lies in developing a robust predictive model that effectively classifies addiction levels with high precision.</a:t>
            </a:r>
          </a:p>
          <a:p>
            <a:pPr algn="just">
              <a:lnSpc>
                <a:spcPct val="16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A hybrid machine learning framework utilizing ensemble learning enhances predictive accuracy by integrating multiple classifiers, including Stacking,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ExtraTrees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biases and improving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1010089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2A2EC-4038-9809-7892-B7DDB7452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FB763-22D8-73F7-F4DC-D60946547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9368"/>
            <a:ext cx="10515600" cy="496759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To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smartphone usage patterns and identify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indicators of addiction.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To develop a hybrid machine learning framework for accurate addiction classification.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To integrate ensemble learning techniques for improved prediction performance.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To provide a reliable tool for early detection and personalized intervention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742666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37CF0-69E4-AAE4-95A1-1A3BAA7D3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894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DCBFD-FC1D-AF53-1819-4EB66406E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4066"/>
            <a:ext cx="10515600" cy="5242897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Smartphone addiction has become a significant concern, affecting mental health, productivity, and social interactions.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Excessive phone usage leads to dependency, anxiety, and reduced real-world engagement, making early detection essential.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Machine learning techniques offer a data-driven approach to analyzing usage patterns and predicting addiction tendencies.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A hybrid machine learning framework with ensemble learning enhances accuracy, providing a reliable solution for addiction assessment.</a:t>
            </a:r>
          </a:p>
        </p:txBody>
      </p:sp>
    </p:spTree>
    <p:extLst>
      <p:ext uri="{BB962C8B-B14F-4D97-AF65-F5344CB8AC3E}">
        <p14:creationId xmlns:p14="http://schemas.microsoft.com/office/powerpoint/2010/main" val="829446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D4D6C-EDB3-618D-8DC6-8018FCC7C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75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8AADA-05FE-D179-E3FA-5207789F8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4196"/>
            <a:ext cx="10515600" cy="4849608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Smartphone addiction among children poses risks to mental health, productivity, and social interactions, requiring automated identification solutions.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Existing methods rely on face biometrics or specialized applications, raising privacy concerns and limiting user experience.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A novel implicit system collects behavioral data in real-time using deep learning-based classifiers, ensuring continuous and accurate child identification.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Achieving an Equal Error Rate (EER) of 4.38%, the approach outperforms conventional models, providing a reliable tool for smartphone addiction assessment.</a:t>
            </a:r>
          </a:p>
        </p:txBody>
      </p:sp>
    </p:spTree>
    <p:extLst>
      <p:ext uri="{BB962C8B-B14F-4D97-AF65-F5344CB8AC3E}">
        <p14:creationId xmlns:p14="http://schemas.microsoft.com/office/powerpoint/2010/main" val="1705787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CFB41-F673-0F04-4A36-54DFE4012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2EEC1-4635-02EC-1411-4EF908F9F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9032"/>
            <a:ext cx="10515600" cy="4947931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Most smartphone addiction detection methods rely on self-reported surveys, which may lack accuracy and real-time monitoring.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Biometric-based approaches like facial recognition and fingerprint scanning require additional hardware, raising privacy concerns.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Some models use single-finger touch interactions or simple behavioral patterns, limiting their effectiveness in complex scenarios.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Conventional machine learning models such as SVM and Random Forest struggle with large-scale real-time classification tasks.</a:t>
            </a:r>
          </a:p>
        </p:txBody>
      </p:sp>
    </p:spTree>
    <p:extLst>
      <p:ext uri="{BB962C8B-B14F-4D97-AF65-F5344CB8AC3E}">
        <p14:creationId xmlns:p14="http://schemas.microsoft.com/office/powerpoint/2010/main" val="331965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40564-2DC2-2117-A391-B9B336086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 of the Existing System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0566D-AE1E-8F41-E7E4-3E69A2466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503"/>
            <a:ext cx="10515600" cy="468246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Accuracy: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methods may misclassify users due to generalized behavioral patterns and lack of deep learning insights.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Concerns: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Face and biometric-based authentication methods raise security and ethical issues.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Real-Time Performance: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models do not support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often require user interaction.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Generalization: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Many approaches fail to adapt across different applications, smartphone models, and usage scenarios.</a:t>
            </a:r>
          </a:p>
        </p:txBody>
      </p:sp>
    </p:spTree>
    <p:extLst>
      <p:ext uri="{BB962C8B-B14F-4D97-AF65-F5344CB8AC3E}">
        <p14:creationId xmlns:p14="http://schemas.microsoft.com/office/powerpoint/2010/main" val="2601251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AEB64-7673-C963-5A7C-C259A81EB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89BD9-12F1-8028-EDFF-62000E605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168"/>
            <a:ext cx="10515600" cy="4662795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A hybrid machine learning framework utilizing ensemble learning for smartphone addiction detection.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Integrates Stacking Classifier,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Classifier,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ExtraTrees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Classifier to improve accuracy and generalization.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Collects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psychological usage patterns for real-time and privacy-preserving addiction assessment.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Implements Flask-based web architecture for seamless interaction between the frontend and backend.</a:t>
            </a:r>
          </a:p>
        </p:txBody>
      </p:sp>
    </p:spTree>
    <p:extLst>
      <p:ext uri="{BB962C8B-B14F-4D97-AF65-F5344CB8AC3E}">
        <p14:creationId xmlns:p14="http://schemas.microsoft.com/office/powerpoint/2010/main" val="2471046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44EC2-7354-5B76-9B78-8A3CA6820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the Proposed System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DA6ED-D2A5-0546-2404-8455BA38F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684"/>
            <a:ext cx="10515600" cy="4810279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High Accuracy: Achieves superior performance with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ExtraTrees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Classifier providing 100% test accuracy.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Privacy-Preserving: Eliminates the need for biometric data, using implicit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identification.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Real-Time Monitoring: Continuously tracks smartphone usage patterns without requiring user intervention.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Scalable &amp; Adaptive: Works across different smartphone models and app usage scenarios for broad applicability</a:t>
            </a:r>
          </a:p>
        </p:txBody>
      </p:sp>
    </p:spTree>
    <p:extLst>
      <p:ext uri="{BB962C8B-B14F-4D97-AF65-F5344CB8AC3E}">
        <p14:creationId xmlns:p14="http://schemas.microsoft.com/office/powerpoint/2010/main" val="3593082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0D74F-AA03-EBF4-F7F6-28C9BDDB5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761B0-88DD-DB74-C7E7-12A7D37C8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1110"/>
            <a:ext cx="10515600" cy="618449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 Core i5/i7 or equivalent (minimum 2.5 GHz)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8GB (Recommended: 16GB for better performance)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Minimum 20GB free disk space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Windows 10/11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3.8+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 &amp; Libraries: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Flask, Scikit-Learn, TensorFlow,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NumPy, Pandas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Notebook, PyCharm, VS Code</a:t>
            </a:r>
          </a:p>
        </p:txBody>
      </p:sp>
    </p:spTree>
    <p:extLst>
      <p:ext uri="{BB962C8B-B14F-4D97-AF65-F5344CB8AC3E}">
        <p14:creationId xmlns:p14="http://schemas.microsoft.com/office/powerpoint/2010/main" val="699179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1AD2C-0A0C-A485-E5CF-18BC83F55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26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D199BF45-6409-311F-BC70-98560F8D7DC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81548"/>
            <a:ext cx="9825682" cy="5677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9461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08C05-5B3E-3C25-535C-B8BD6D689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9107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Modules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19B6F-EB27-3AFD-4E65-4AAD45973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1884"/>
            <a:ext cx="10515600" cy="5115079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Gathers smartphone usage data, including screen time, app usage,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patterns.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Cleans, normalizes, and transforms raw data for efficient model training and analysis.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Implements ensemble learning classifiers (Stacking,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ExtraTrees,Random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forest,XGBoost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addiction prediction.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&amp; Analysis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Classifies users as addicted or non-addicted based on learned patterns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insights.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a web-based dashboard using Flask, HTML, CSS, and JavaScript for interaction and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989993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64E89-F7AE-D245-A596-1366B33F4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Implementation-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Collection Module 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115BF6-4D2B-0F2C-ED2A-64868915DF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0038" y="871752"/>
            <a:ext cx="7305675" cy="425767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4E2004-230B-0100-2488-FBC50EE1C3DD}"/>
              </a:ext>
            </a:extLst>
          </p:cNvPr>
          <p:cNvSpPr txBox="1"/>
          <p:nvPr/>
        </p:nvSpPr>
        <p:spPr>
          <a:xfrm>
            <a:off x="1037968" y="5216265"/>
            <a:ext cx="92552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screenshot shows the interface or backend logs capturing smartphone usage data such as screen time, app access frequency, and user interaction patterns.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940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0CB8D-FF63-1592-1873-EE8B3F7B7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7A775-6692-ACF2-6B28-BEA907BB2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48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Implementation-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Preprocessing Module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7277EFD-C8EF-3BCA-9EDE-C15C587929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0206" y="1309817"/>
            <a:ext cx="6513090" cy="3484606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B49934-1456-550E-D3D9-C1400A6AFF82}"/>
              </a:ext>
            </a:extLst>
          </p:cNvPr>
          <p:cNvSpPr txBox="1"/>
          <p:nvPr/>
        </p:nvSpPr>
        <p:spPr>
          <a:xfrm>
            <a:off x="1260390" y="5086518"/>
            <a:ext cx="93169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screenshot highlights data cleaning operations such as handling missing values, normalization, and feature transformation before feeding into the model.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787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FD745-EB4E-C772-646F-4AB233ACF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50863-8E6E-FBED-CC80-1D8FE36C3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48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Implementation-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 Module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3F8BCE5-B1CE-C3A8-6B6F-C9111255D2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9881" y="1408670"/>
            <a:ext cx="8649730" cy="3731741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99672B-D975-3F21-F7F2-8D8EC0E1B739}"/>
              </a:ext>
            </a:extLst>
          </p:cNvPr>
          <p:cNvSpPr txBox="1"/>
          <p:nvPr/>
        </p:nvSpPr>
        <p:spPr>
          <a:xfrm>
            <a:off x="1186249" y="5140411"/>
            <a:ext cx="9897762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screenshot illustrates the training pipeline using ensemble classifiers like Stacking,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GradientBoost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ExtraTrees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Random Forest,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accuracy metrics.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216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8F9A1-AC27-8AEB-8E23-20ECD15F2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C5B65-297D-6290-7504-0185E3416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48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Implementation-</a:t>
            </a: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Prediction &amp; Analysis Module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E475A95-E8F0-76F2-8319-B6871174D4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0221" y="1198606"/>
            <a:ext cx="7491552" cy="4632368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CEC9BC-9D0E-659D-D9F6-C3591E626CA3}"/>
              </a:ext>
            </a:extLst>
          </p:cNvPr>
          <p:cNvSpPr txBox="1"/>
          <p:nvPr/>
        </p:nvSpPr>
        <p:spPr>
          <a:xfrm>
            <a:off x="2060221" y="5852120"/>
            <a:ext cx="8937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screenshot displays prediction results where users are classified as addicted or non-addicted, including graphical analysis of key usage behaviors.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225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028CA-395E-97C7-0A55-4BCCA31B5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A9AB1-B0F3-055B-B92B-AA943BF6F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48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Implementation-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Interface Module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F31D028-F7A5-F688-DCC9-49A84840DB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7523" y="1529063"/>
            <a:ext cx="7279246" cy="4351338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C9B2B-5406-E017-4A65-EC68BCB0FA80}"/>
              </a:ext>
            </a:extLst>
          </p:cNvPr>
          <p:cNvSpPr txBox="1"/>
          <p:nvPr/>
        </p:nvSpPr>
        <p:spPr>
          <a:xfrm>
            <a:off x="1767016" y="5880401"/>
            <a:ext cx="88597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screenshot shows the responsive Flask web dashboard where users can view addiction status and trends through interactive graphs and user-friendly layouts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733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48924-B9AF-9D42-3157-5325B6D11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06E24-0CC8-A8F7-6C17-45DBD9031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48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Implementation-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Interface Module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A485A0-C1C2-30BC-05FF-164D4C3CBB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8442" y="1541420"/>
            <a:ext cx="7242122" cy="4351338"/>
          </a:xfrm>
        </p:spPr>
      </p:pic>
    </p:spTree>
    <p:extLst>
      <p:ext uri="{BB962C8B-B14F-4D97-AF65-F5344CB8AC3E}">
        <p14:creationId xmlns:p14="http://schemas.microsoft.com/office/powerpoint/2010/main" val="7892691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D13D9-54B4-3245-16D2-082357426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27598-221B-2C1A-849B-9083B7A80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48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Implementation-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Interface Module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197DFC7-27A5-8916-631F-FCB0D40C80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6595" y="1253331"/>
            <a:ext cx="7218809" cy="4351338"/>
          </a:xfrm>
        </p:spPr>
      </p:pic>
    </p:spTree>
    <p:extLst>
      <p:ext uri="{BB962C8B-B14F-4D97-AF65-F5344CB8AC3E}">
        <p14:creationId xmlns:p14="http://schemas.microsoft.com/office/powerpoint/2010/main" val="31694219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F9A25-AF9B-D21F-33CE-F252D50FD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4D2E3-4073-4AB6-9482-48140DAB5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5071"/>
            <a:ext cx="10515600" cy="5982929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C. Lin, T. Song, Y. Miao, J. He, M. Yang, H. Wang, and C. Shen, **"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ChildShield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Implicit and Continuous Child Identification System on Smartphones,"** *IEEE Transactions on Dependable and Secure Computing*, vol. 21, no. 4, pp. 2257-2271, Jul./Aug. 2024. 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Y. Cheng, W. Zhang, H. Zhou, and M. Li, **"Identifying Child Users via Touchscreen Interactions,"** *ACM Transactions on Sensor Networks*, vol. 16, no. 4, pp. 1-25, 2020. 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A. Pentel, **"Predicting Age and Gender by Keystroke Dynamics and Mouse Patterns,"** in *Proceedings of the 25th Conference on User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Adaptation, and Personalization*, 2017, pp. 381-385. 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R.-D.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Vatavu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Cramariuc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D. M. Schipor, **"Touch Interaction for Children Aged 3 to 6 Years: Experimental Findings and Relationship to Motor Skills,"** *International Journal of Human-Computer Studies*, vol. 74, pp. 54-76, 2015. 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T. Min, Z. Wang, and P. Yang, **"Smartphone Sensor-Based User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for Mental Health Monitoring,"** in *Proceedings of IEEE International Conference on Pervasive Computing and Communications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PerCom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)*, 2021, pp. 123-130. </a:t>
            </a:r>
          </a:p>
        </p:txBody>
      </p:sp>
    </p:spTree>
    <p:extLst>
      <p:ext uri="{BB962C8B-B14F-4D97-AF65-F5344CB8AC3E}">
        <p14:creationId xmlns:p14="http://schemas.microsoft.com/office/powerpoint/2010/main" val="3336004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1253</Words>
  <Application>Microsoft Office PowerPoint</Application>
  <PresentationFormat>Widescreen</PresentationFormat>
  <Paragraphs>74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Office Theme</vt:lpstr>
      <vt:lpstr>A Hybrid Machine Learning Framework for Smartphone Addiction Detection</vt:lpstr>
      <vt:lpstr>ABSTRACT</vt:lpstr>
      <vt:lpstr>OBJECTIVES</vt:lpstr>
      <vt:lpstr>Introduction </vt:lpstr>
      <vt:lpstr>Literature Survey </vt:lpstr>
      <vt:lpstr>Existing System </vt:lpstr>
      <vt:lpstr>Drawbacks of the Existing System </vt:lpstr>
      <vt:lpstr>Proposed System </vt:lpstr>
      <vt:lpstr>Advantages of the Proposed System </vt:lpstr>
      <vt:lpstr>System Requirements </vt:lpstr>
      <vt:lpstr>Architecture Diagram</vt:lpstr>
      <vt:lpstr>System Modules </vt:lpstr>
      <vt:lpstr>System Implementation- Data Collection Module   </vt:lpstr>
      <vt:lpstr>System Implementation- Data Preprocessing Module</vt:lpstr>
      <vt:lpstr>System Implementation- Machine Learning Module</vt:lpstr>
      <vt:lpstr>System Implementation- Prediction &amp; Analysis Module</vt:lpstr>
      <vt:lpstr>System Implementation- User Interface Module </vt:lpstr>
      <vt:lpstr>System Implementation- User Interface Module </vt:lpstr>
      <vt:lpstr>System Implementation- User Interface Module 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Admin</cp:lastModifiedBy>
  <cp:revision>30</cp:revision>
  <dcterms:created xsi:type="dcterms:W3CDTF">2025-03-25T09:27:49Z</dcterms:created>
  <dcterms:modified xsi:type="dcterms:W3CDTF">2025-05-03T18:18:46Z</dcterms:modified>
</cp:coreProperties>
</file>